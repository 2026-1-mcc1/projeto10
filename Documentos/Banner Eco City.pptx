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0425" cy="43200638"/>
  <p:notesSz cx="6858000" cy="9144000"/>
  <p:embeddedFontLst>
    <p:embeddedFont>
      <p:font typeface="Inter" panose="020B0604020202020204" charset="0"/>
      <p:regular r:id="rId4"/>
      <p:bold r:id="rId5"/>
      <p:italic r:id="rId6"/>
      <p:boldItalic r:id="rId7"/>
    </p:embeddedFont>
    <p:embeddedFont>
      <p:font typeface="Open Sans" panose="020F0502020204030204" pitchFamily="34" charset="0"/>
      <p:regular r:id="rId8"/>
      <p:bold r:id="rId9"/>
      <p:italic r:id="rId10"/>
      <p:boldItalic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5" roundtripDataSignature="AMtx7mgiuEy/r/0Lu/kU+lIshibyNSjb8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5" d="100"/>
          <a:sy n="25" d="100"/>
        </p:scale>
        <p:origin x="1272" y="-1056"/>
      </p:cViewPr>
      <p:guideLst>
        <p:guide orient="horz" pos="4366"/>
        <p:guide pos="54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customschemas.google.com/relationships/presentationmetadata" Target="metadata"/><Relationship Id="rId10" Type="http://schemas.openxmlformats.org/officeDocument/2006/relationships/font" Target="fonts/font7.fntdata"/><Relationship Id="rId19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685800"/>
            <a:ext cx="228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sz="7623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615823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marL="914400" lvl="1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marL="1371600" lvl="2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marL="1828800" lvl="3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marL="2286000" lvl="4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marL="2743200" lvl="5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marL="3200400" lvl="6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marL="3657600" lvl="7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marL="4114800" lvl="8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615823" algn="l" rtl="0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sz="609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67436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sz="533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19049" algn="l" rtl="0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sz="45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70599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20" y="28800364"/>
            <a:ext cx="29304069" cy="975974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 extrusionOk="0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l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62219" y="21145003"/>
            <a:ext cx="29324751" cy="9460534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 extrusionOk="0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452423"/>
            <a:ext cx="29303962" cy="8372957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54247"/>
            <a:ext cx="29303943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 extrusionOk="0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 extrusionOk="0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0809776" y="13218983"/>
            <a:ext cx="21015953" cy="13057756"/>
            <a:chOff x="0" y="-47625"/>
            <a:chExt cx="1949116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 extrusionOk="0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26416" y="-47625"/>
              <a:ext cx="1922700" cy="1224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75" y="30011224"/>
            <a:ext cx="13848535" cy="8372959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 extrusionOk="0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289000" y="30011233"/>
            <a:ext cx="12527629" cy="8372803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 extrusionOk="0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 cmpd="sng">
                <a:solidFill>
                  <a:srgbClr val="000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endParaRPr sz="6769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6800" tIns="96800" rIns="96800" bIns="96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endParaRPr sz="6769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35141"/>
              <a:ext cx="6635700" cy="49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762"/>
                <a:buFont typeface="Arial"/>
                <a:buNone/>
              </a:pPr>
              <a:r>
                <a:rPr lang="en-US" sz="4762" b="1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43" y="152535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 extrusionOk="0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14306" y="1712017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 extrusionOk="0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"/>
          <p:cNvSpPr/>
          <p:nvPr/>
        </p:nvSpPr>
        <p:spPr>
          <a:xfrm>
            <a:off x="15619815" y="22598719"/>
            <a:ext cx="11395849" cy="6655559"/>
          </a:xfrm>
          <a:custGeom>
            <a:avLst/>
            <a:gdLst/>
            <a:ahLst/>
            <a:cxnLst/>
            <a:rect l="l" t="t" r="r" b="b"/>
            <a:pathLst>
              <a:path w="5982073" h="3493732" extrusionOk="0">
                <a:moveTo>
                  <a:pt x="0" y="0"/>
                </a:moveTo>
                <a:lnTo>
                  <a:pt x="5982074" y="0"/>
                </a:lnTo>
                <a:lnTo>
                  <a:pt x="5982074" y="3493732"/>
                </a:lnTo>
                <a:lnTo>
                  <a:pt x="0" y="34937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7"/>
              <a:buFont typeface="Arial"/>
              <a:buNone/>
            </a:pPr>
            <a:r>
              <a:rPr lang="en-US" sz="5077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9" name="Google Shape;119;p1"/>
          <p:cNvGrpSpPr/>
          <p:nvPr/>
        </p:nvGrpSpPr>
        <p:grpSpPr>
          <a:xfrm rot="-5400000">
            <a:off x="2494601" y="7477176"/>
            <a:ext cx="10206805" cy="14355430"/>
            <a:chOff x="0" y="-47625"/>
            <a:chExt cx="958980" cy="1348764"/>
          </a:xfrm>
        </p:grpSpPr>
        <p:sp>
          <p:nvSpPr>
            <p:cNvPr id="120" name="Google Shape;120;p1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 extrusionOk="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" name="Google Shape;122;p1"/>
          <p:cNvGrpSpPr/>
          <p:nvPr/>
        </p:nvGrpSpPr>
        <p:grpSpPr>
          <a:xfrm rot="-5400000">
            <a:off x="2460145" y="17961211"/>
            <a:ext cx="10275743" cy="14355435"/>
            <a:chOff x="0" y="-47625"/>
            <a:chExt cx="936167" cy="1348764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 extrusionOk="0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5" name="Google Shape;125;p1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 extrusionOk="0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-6689" y="3979580"/>
            <a:ext cx="28813800" cy="17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34"/>
              <a:buFont typeface="Arial"/>
              <a:buNone/>
            </a:pPr>
            <a:r>
              <a:rPr lang="en-US" sz="11434" b="1">
                <a:latin typeface="Open Sans"/>
                <a:ea typeface="Open Sans"/>
                <a:cs typeface="Open Sans"/>
                <a:sym typeface="Open Sans"/>
              </a:rPr>
              <a:t>Eco City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"/>
          <p:cNvSpPr txBox="1"/>
          <p:nvPr/>
        </p:nvSpPr>
        <p:spPr>
          <a:xfrm>
            <a:off x="-104187" y="5559688"/>
            <a:ext cx="29304000" cy="27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>
                <a:latin typeface="Open Sans"/>
                <a:ea typeface="Open Sans"/>
                <a:cs typeface="Open Sans"/>
                <a:sym typeface="Open Sans"/>
              </a:rPr>
              <a:t>Brian Walter, Arthur Lima De Luiz e Leonardo Batista Franca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Orientadores: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Victor Bruno Alexander Rosetti de Quiroz, Renata Muniz Do Nascimento, Adriano Felix Valente, Eduardo Savino Gomes, Luis Fernando dos Santos Pires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"/>
          <p:cNvSpPr txBox="1"/>
          <p:nvPr/>
        </p:nvSpPr>
        <p:spPr>
          <a:xfrm>
            <a:off x="15101143" y="21388928"/>
            <a:ext cx="12433200" cy="5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Inter"/>
                <a:ea typeface="Inter"/>
                <a:cs typeface="Inter"/>
                <a:sym typeface="Inter"/>
              </a:rPr>
              <a:t>Imagem ilustrativa do jogo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"/>
          <p:cNvSpPr txBox="1"/>
          <p:nvPr/>
        </p:nvSpPr>
        <p:spPr>
          <a:xfrm>
            <a:off x="15336206" y="29063541"/>
            <a:ext cx="12433200" cy="5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Fonte: Autoria Própria (202</a:t>
            </a:r>
            <a:r>
              <a:rPr lang="en-US" sz="3430">
                <a:latin typeface="Inter"/>
                <a:ea typeface="Inter"/>
                <a:cs typeface="Inter"/>
                <a:sym typeface="Inter"/>
              </a:rPr>
              <a:t>6</a:t>
            </a:r>
            <a:r>
              <a:rPr lang="en-US" sz="343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"/>
          <p:cNvSpPr txBox="1"/>
          <p:nvPr/>
        </p:nvSpPr>
        <p:spPr>
          <a:xfrm>
            <a:off x="15406089" y="31719850"/>
            <a:ext cx="12293400" cy="71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POPLIN, A. </a:t>
            </a:r>
            <a:r>
              <a:rPr lang="en-US" sz="3400" i="1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Playful public participation in urban planning: A case study for online serious games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. Computers, Environment and Urban Systems, 2012.</a:t>
            </a:r>
            <a:endParaRPr sz="3400" dirty="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STANITSAS, M.; KIRYTOPOULOS, K.; VAREILLES, E. </a:t>
            </a:r>
            <a:r>
              <a:rPr lang="en-US" sz="3400" i="1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Facilitating sustainability transition through serious games: A systematic literature review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. Journal of Cleaner Production, 2019.</a:t>
            </a:r>
            <a:endParaRPr sz="3400" dirty="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NYSTROM, Robert. </a:t>
            </a:r>
            <a:r>
              <a:rPr lang="en-US" sz="3400" i="1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Game Programming Patterns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. 2014.</a:t>
            </a:r>
            <a:endParaRPr sz="3400" dirty="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SCHELL, Jesse. </a:t>
            </a:r>
            <a:r>
              <a:rPr lang="en-US" sz="3400" i="1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The Art of Game Design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. 2008.</a:t>
            </a:r>
            <a:endParaRPr sz="3400" dirty="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3400" dirty="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5" name="Google Shape;135;p1"/>
          <p:cNvSpPr txBox="1"/>
          <p:nvPr/>
        </p:nvSpPr>
        <p:spPr>
          <a:xfrm>
            <a:off x="1595875" y="31719850"/>
            <a:ext cx="12562800" cy="64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44450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Char char="●"/>
            </a:pP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Unity 6: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utilizada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construção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do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jogo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e do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ambiente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3D.</a:t>
            </a:r>
            <a:endParaRPr sz="3400" dirty="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44450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Char char="●"/>
            </a:pP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C#: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utilizada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programação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das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regras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mecânicas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sz="3400" dirty="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44450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Char char="●"/>
            </a:pP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Visual Studio / VS Code: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utilizados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criação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edição</a:t>
            </a:r>
            <a:r>
              <a:rPr lang="en-US" sz="340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dos scripts.</a:t>
            </a:r>
            <a:endParaRPr sz="340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44450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Char char="●"/>
            </a:pP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Git e GitHub: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utilizados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no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versionamento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organização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do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projeto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sz="3400" dirty="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44450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Char char="●"/>
            </a:pP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itch.io: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utilizada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publicação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3400" dirty="0" err="1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versão</a:t>
            </a:r>
            <a:r>
              <a:rPr lang="en-US" sz="3400" dirty="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 web.</a:t>
            </a:r>
            <a:endParaRPr sz="3400" dirty="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3400" dirty="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6" name="Google Shape;136;p1"/>
          <p:cNvSpPr txBox="1"/>
          <p:nvPr/>
        </p:nvSpPr>
        <p:spPr>
          <a:xfrm>
            <a:off x="1595875" y="10749178"/>
            <a:ext cx="12562800" cy="85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0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Muitos jogos de tabuleiro tradicionais valorizam apenas o acúmulo de dinheiro como sinal de sucesso. Essa lógica não representa adequadamente situações reais, em que decisões econômicas também afetam o meio ambiente e a qualidade de vida da população.</a:t>
            </a:r>
            <a:endParaRPr sz="340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0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No contexto urbano, crescimento e desenvolvimento precisam ser pensados de forma equilibrada. Por isso, Eco City propõe uma experiência em que o jogador reflita sobre consequências sociais, ambientais e financeiras de cada escolha.</a:t>
            </a:r>
            <a:endParaRPr sz="340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340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570066" y="21125709"/>
            <a:ext cx="12562800" cy="69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0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Eco City propõe utilizar um jogo digital como ferramenta para discutir desafios reais do desenvolvimento urbano sustentável. Por meio da simulação, o jogador é levado a tomar decisões que envolvem crescimento econômico, impacto ambiental e bem-estar social.</a:t>
            </a:r>
            <a:endParaRPr sz="340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0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Dessa forma, o projeto busca mostrar que a gestão de uma cidade exige equilíbrio entre diferentes fatores, aproximando o jogo de questões presentes na realidade.</a:t>
            </a:r>
            <a:endParaRPr sz="340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340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8" name="Google Shape;138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lang="en-US" sz="4955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IV SEMANA FECAP DE TECNOLOGIA - 2026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lang="en-US" sz="4955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"/>
          <p:cNvSpPr txBox="1"/>
          <p:nvPr/>
        </p:nvSpPr>
        <p:spPr>
          <a:xfrm>
            <a:off x="15619825" y="10882475"/>
            <a:ext cx="11914500" cy="1095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0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O projeto resultou em um protótipo funcional desenvolvido em 3D, com tabuleiro 6x6 e 12 rodadas, permitindo ao jogador interagir com propriedades e tomar decisões com impacto direto nos indicadores principais.</a:t>
            </a:r>
            <a:endParaRPr sz="340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0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Foram implementados sistema de turnos, movimentação, compra de propriedades, atualização de dinheiro, bem-estar e poluição, além de uma estrutura capaz de comparar desempenho econômico, social e ambiental ao longo da partida.</a:t>
            </a:r>
            <a:endParaRPr sz="340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00">
                <a:solidFill>
                  <a:schemeClr val="dk1"/>
                </a:solidFill>
                <a:highlight>
                  <a:schemeClr val="lt1"/>
                </a:highlight>
                <a:latin typeface="Open Sans"/>
                <a:ea typeface="Open Sans"/>
                <a:cs typeface="Open Sans"/>
                <a:sym typeface="Open Sans"/>
              </a:rPr>
              <a:t>Além da execução local no Unity, o jogo também foi publicado em formato web, ampliando o acesso ao projeto e sua utilização em apresentações, avaliações e demonstrações acadêmicas.</a:t>
            </a:r>
            <a:endParaRPr sz="340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3400">
              <a:solidFill>
                <a:schemeClr val="dk1"/>
              </a:solidFill>
              <a:highlight>
                <a:schemeClr val="lt1"/>
              </a:highlight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0" name="Google Shape;140;p1"/>
          <p:cNvSpPr txBox="1"/>
          <p:nvPr/>
        </p:nvSpPr>
        <p:spPr>
          <a:xfrm>
            <a:off x="15726789" y="24248110"/>
            <a:ext cx="11652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1" name="Google Shape;141;p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5868863" y="21976388"/>
            <a:ext cx="10897774" cy="6957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468</Words>
  <Application>Microsoft Office PowerPoint</Application>
  <PresentationFormat>Personalizar</PresentationFormat>
  <Paragraphs>29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Inter</vt:lpstr>
      <vt:lpstr>Calibri</vt:lpstr>
      <vt:lpstr>Arial</vt:lpstr>
      <vt:lpstr>Open Sans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Brian Walter</cp:lastModifiedBy>
  <cp:revision>1</cp:revision>
  <dcterms:created xsi:type="dcterms:W3CDTF">2006-08-16T00:00:00Z</dcterms:created>
  <dcterms:modified xsi:type="dcterms:W3CDTF">2026-05-11T21:40:10Z</dcterms:modified>
</cp:coreProperties>
</file>